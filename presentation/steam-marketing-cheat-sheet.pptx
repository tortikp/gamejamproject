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· MARKETING · ИЗДАНИЕ ИНДИ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164592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Marketing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365760" y="2423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3063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Краткий обзор для команды разработки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3520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обзорная методичка о том, как работает запуск игры в Steam с маркетинговой стороны: что бывает, когда происходит, кто за это отвечает, сколько это стоит. Цель — чтобы вся команда понимала картину и могла обсуждать релиз с издателем на одном языке.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42062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Читается за 10–15 минут. Один раз — потом возвращаешься в нужный раздел. Это не план задач — это карта местности.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ЖИЗНЕННЫЙ ЦИКЛ РЕЛИЗА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фаз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Любой Steam-релиз проходит через одни и те же 8 фаз. Длительность меняется от игры к игре, последовательность — нет. Опорная точка — T-0 (день релиза); все остальные даты считаются относительно неё.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292608"/>
          </a:xfrm>
          <a:prstGeom prst="rect">
            <a:avLst/>
          </a:prstGeom>
          <a:solidFill>
            <a:srgbClr val="27194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17320"/>
            <a:ext cx="45720" cy="29260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173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606040" y="141732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251960" y="141732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ЗАДАЧА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1709928"/>
            <a:ext cx="8412480" cy="292608"/>
          </a:xfrm>
          <a:prstGeom prst="rect">
            <a:avLst/>
          </a:prstGeom>
          <a:solidFill>
            <a:srgbClr val="1E1233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1709928"/>
            <a:ext cx="45720" cy="2926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7099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· Концепт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06040" y="170992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T-180+ (внутренне)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51960" y="170992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Понять: рынок есть? хук работает? есть ли GIF, который сам себя продаёт? Если нет — переделываем до Steam-страницы.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002536"/>
            <a:ext cx="45720" cy="2926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00253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· Coming Soon Prep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06040" y="200253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T-90 → T-60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251960" y="2002536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Готовим все ассеты страницы (8 капсул, 5+ скринов, 3+ GIF, трейлер, тексты, теги, 9+ локалей). В конце — отправляем страницу на ревью Steam.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295144"/>
            <a:ext cx="8412480" cy="292608"/>
          </a:xfrm>
          <a:prstGeom prst="rect">
            <a:avLst/>
          </a:prstGeom>
          <a:solidFill>
            <a:srgbClr val="1E1233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" y="2295144"/>
            <a:ext cx="45720" cy="292608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29514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· Coming Soon Live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06040" y="229514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T-60 → T-30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51960" y="2295144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Страница опубликована. Начинаем собирать вишлисты: Reddit, X, Discord, рассылка по инфлюенсерам, кураторам.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587752"/>
            <a:ext cx="45720" cy="29260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58775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 · Демо и Next Fest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06040" y="258775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/ Jun / Oct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51960" y="258775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фестиваль для инди: Steam Next Fest. 1 неделя, демо обязательно. Стабильно даёт 2 000–10 000 вишлистов.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2880360"/>
            <a:ext cx="8412480" cy="292608"/>
          </a:xfrm>
          <a:prstGeom prst="rect">
            <a:avLst/>
          </a:prstGeom>
          <a:solidFill>
            <a:srgbClr val="1E1233"/>
          </a:solidFill>
          <a:ln/>
        </p:spPr>
      </p:sp>
      <p:sp>
        <p:nvSpPr>
          <p:cNvPr id="29" name="Shape 27"/>
          <p:cNvSpPr/>
          <p:nvPr/>
        </p:nvSpPr>
        <p:spPr>
          <a:xfrm>
            <a:off x="365760" y="2880360"/>
            <a:ext cx="45720" cy="29260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288036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 · Pre-Release Push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606040" y="288036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T-30 → T-0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251960" y="288036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Финальный спринт. Цель — попасть в Popular Upcoming за неделю до релиза (~5 000+ вишлистов). PR-рассылка, инфлюенсеры с эмбарго, реклама.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3172968"/>
            <a:ext cx="45720" cy="29260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17296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E6 · Релиз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606040" y="317296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 → T+7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251960" y="317296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Запуск. Главное в первую неделю — отвечать на ВСЕ отзывы в течение 24 часов, особенно негативные.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3465576"/>
            <a:ext cx="8412480" cy="292608"/>
          </a:xfrm>
          <a:prstGeom prst="rect">
            <a:avLst/>
          </a:prstGeom>
          <a:solidFill>
            <a:srgbClr val="1E1233"/>
          </a:solidFill>
          <a:ln/>
        </p:spPr>
      </p:sp>
      <p:sp>
        <p:nvSpPr>
          <p:cNvPr id="38" name="Shape 36"/>
          <p:cNvSpPr/>
          <p:nvPr/>
        </p:nvSpPr>
        <p:spPr>
          <a:xfrm>
            <a:off x="365760" y="3465576"/>
            <a:ext cx="45720" cy="29260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" y="346557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E7 · Launch Tail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606040" y="346557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T+7 → T+60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251960" y="3465576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Steam ещё даёт бонусный охват. Не теряем темп: weekly посты, первая большая скидка, первый DLC.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3758184"/>
            <a:ext cx="45720" cy="2926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" y="375818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E8 · Live Ops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606040" y="375818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T+60 → ∞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251960" y="3758184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Поддержка: участие в фестивалях, обновление страницы, контент-апдейты или DLC. Хвост может тянуться годами.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" y="4160520"/>
            <a:ext cx="8412480" cy="292608"/>
          </a:xfrm>
          <a:prstGeom prst="rect">
            <a:avLst/>
          </a:prstGeom>
          <a:solidFill>
            <a:srgbClr val="271948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416052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принцип: страница за 60–90 дней до релиза, а не в момент. Чем раньше опубликована — тем больше вишлистов на старте → выше шанс Popular Upcoming → сильнее буст алгоритма в первую неделю.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229600" y="48508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STEAM-СТРАНИЦА: ЧТО ГОТОВИМ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Steam-страница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Страница магазина — главный рекламный носитель игры. Всё остальное (соцсети, реклама, инфлюенсеры) ведёт на неё. Если страница продаёт плохо — никакой трафик не спасёт. Первая большая работа — собрать страницу, которая конвертит посетителя в вишлист.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· Графические ассеты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57400" y="14447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(отдельная работа арт-команды)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709928"/>
            <a:ext cx="4937760" cy="246888"/>
          </a:xfrm>
          <a:prstGeom prst="rect">
            <a:avLst/>
          </a:prstGeom>
          <a:solidFill>
            <a:srgbClr val="271948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709928"/>
            <a:ext cx="45720" cy="246888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709928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148840" y="1709928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46120" y="1709928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НАЗНАЧЕНИЕ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1956816"/>
            <a:ext cx="4937760" cy="196596"/>
          </a:xfrm>
          <a:prstGeom prst="rect">
            <a:avLst/>
          </a:prstGeom>
          <a:solidFill>
            <a:srgbClr val="1E1233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956816"/>
            <a:ext cx="15087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capsule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148840" y="1956816"/>
            <a:ext cx="9601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920 × 430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46120" y="1956816"/>
            <a:ext cx="20574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капсула. Название читается при 100×40 px.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2153412"/>
            <a:ext cx="15087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capsule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48840" y="2153412"/>
            <a:ext cx="9601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462 × 174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46120" y="2153412"/>
            <a:ext cx="20574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Поиск, списки.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2350008"/>
            <a:ext cx="4937760" cy="196596"/>
          </a:xfrm>
          <a:prstGeom prst="rect">
            <a:avLst/>
          </a:prstGeom>
          <a:solidFill>
            <a:srgbClr val="1E1233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350008"/>
            <a:ext cx="15087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capsule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148840" y="2350008"/>
            <a:ext cx="9601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616 × 353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246120" y="2350008"/>
            <a:ext cx="20574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страница, browse.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" y="2546604"/>
            <a:ext cx="15087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capsule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148840" y="2546604"/>
            <a:ext cx="9601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748 × 896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246120" y="2546604"/>
            <a:ext cx="20574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Мобильная и вертикальная вёрстка.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2743200"/>
            <a:ext cx="4937760" cy="196596"/>
          </a:xfrm>
          <a:prstGeom prst="rect">
            <a:avLst/>
          </a:prstGeom>
          <a:solidFill>
            <a:srgbClr val="1E1233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2743200"/>
            <a:ext cx="15087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capsule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148840" y="2743200"/>
            <a:ext cx="9601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× 900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246120" y="2743200"/>
            <a:ext cx="20574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Библиотека пользователя.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" y="2939796"/>
            <a:ext cx="15087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Hero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148840" y="2939796"/>
            <a:ext cx="9601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3840 × 1240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246120" y="2939796"/>
            <a:ext cx="20574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Шапка в библиотеке.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65760" y="3136392"/>
            <a:ext cx="4937760" cy="196596"/>
          </a:xfrm>
          <a:prstGeom prst="rect">
            <a:avLst/>
          </a:prstGeom>
          <a:solidFill>
            <a:srgbClr val="1E1233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136392"/>
            <a:ext cx="15087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Logo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148840" y="3136392"/>
            <a:ext cx="9601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1280 × 720, PNG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246120" y="3136392"/>
            <a:ext cx="20574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Логотип поверх Hero (прозрачный).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02920" y="3332988"/>
            <a:ext cx="15087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Background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148840" y="3332988"/>
            <a:ext cx="9601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1438 × 810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246120" y="3332988"/>
            <a:ext cx="20574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Фон Coming Soon страницы.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65760" y="3529584"/>
            <a:ext cx="4937760" cy="196596"/>
          </a:xfrm>
          <a:prstGeom prst="rect">
            <a:avLst/>
          </a:prstGeom>
          <a:solidFill>
            <a:srgbClr val="1E1233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3529584"/>
            <a:ext cx="15087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скриншотов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148840" y="3529584"/>
            <a:ext cx="9601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1920 × 1080, JPG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246120" y="3529584"/>
            <a:ext cx="20574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скрин — самый сильный.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02920" y="3726180"/>
            <a:ext cx="15087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GIF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148840" y="3726180"/>
            <a:ext cx="9601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× 350, 3–8 с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246120" y="3726180"/>
            <a:ext cx="20574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обязательно — core-loop за 3 секунды.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65760" y="3922776"/>
            <a:ext cx="4937760" cy="196596"/>
          </a:xfrm>
          <a:prstGeom prst="rect">
            <a:avLst/>
          </a:prstGeom>
          <a:solidFill>
            <a:srgbClr val="1E1233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" y="3922776"/>
            <a:ext cx="15087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Анонсный трейлер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148840" y="3922776"/>
            <a:ext cx="9601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 сек 1080p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246120" y="3922776"/>
            <a:ext cx="20574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5 сек — хук. Последние 5 сек — «Wishlist now».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486400" y="14173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· Тексты и теги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858000" y="14447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(продюсер + маркетинг + редактор)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486400" y="180136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650992" y="18013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Description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650992" y="200253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300 символов. Главный жанровый тег в первых 5 словах.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486400" y="227685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650992" y="227685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Game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650992" y="2478024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хук-абзац → 4–6 буллетов с глаголами → 2–3 более глубоких абзаца → CTA «Wishlist now». GIF после каждого крупного блока.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486400" y="293522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650992" y="293522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тегов (максимум, что разрешает Steam)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650992" y="3136392"/>
            <a:ext cx="31089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важен: первые 5 — самые «весомые» для алгоритма. Главный жанр всегда первым. Дальше: жанровые модификаторы → атрибуты (графика, мультиплеер) → нишевые / настроенческие (Cozy, Cute, Funny).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486400" y="382219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5650992" y="382219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Локализация страницы (текстовая)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650992" y="402336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 и даёт +15–25% импрессий. Минимум: EN, RU, DE, FR, ES, PT-BR, JP, KR, ZH-CN. Опционально для casual / family-friendly: IT, PL, TR, AR.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365760" y="464058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Локализация САМОЙ ИГРЫ — отдельный разговор и часто отдельные деньги. Локализация СТРАНИЦЫ — это просто перевод 5–8 текстовых блоков, бесплатно через Steam-партнёра.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8229600" y="48508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КАНАЛЫ ПРОДВИЖЕНИЯ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и 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Каналов много. Не все одинаково работают для каждой игры. Ниже — что обычно используется и для чего.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· Reddit — главный канал для инди и casual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16184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Стабильно даёт лучшие cost per wishlist в индустрии.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4114800" cy="228600"/>
          </a:xfrm>
          <a:prstGeom prst="rect">
            <a:avLst/>
          </a:prstGeom>
          <a:solidFill>
            <a:srgbClr val="271948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874520"/>
            <a:ext cx="45720" cy="2286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874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САБРЕДДИТ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011680" y="18745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ЧАСТОТА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926080" y="18745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РАБОТАЕТ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2103120"/>
            <a:ext cx="4114800" cy="283464"/>
          </a:xfrm>
          <a:prstGeom prst="rect">
            <a:avLst/>
          </a:prstGeom>
          <a:solidFill>
            <a:srgbClr val="1E1233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10312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r/IndieGaming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11680" y="2103120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/ мес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926080" y="2103120"/>
            <a:ext cx="1554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 core-loop с эмоцией; девлог «до и после».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386584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r/IndieDev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011680" y="2386584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/ мес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926080" y="2386584"/>
            <a:ext cx="1554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«Что мы построили на этой неделе».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2670048"/>
            <a:ext cx="4114800" cy="283464"/>
          </a:xfrm>
          <a:prstGeom prst="rect">
            <a:avLst/>
          </a:prstGeom>
          <a:solidFill>
            <a:srgbClr val="1E1233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670048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r/indiegames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011680" y="2670048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/ мес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926080" y="2670048"/>
            <a:ext cx="1554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 или скриншот, низкопромо тон.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2920" y="2953512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r/gamedevscreens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011680" y="2953512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мес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926080" y="2953512"/>
            <a:ext cx="1554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красивые скриншоты.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" y="3236976"/>
            <a:ext cx="4114800" cy="283464"/>
          </a:xfrm>
          <a:prstGeom prst="rect">
            <a:avLst/>
          </a:prstGeom>
          <a:solidFill>
            <a:srgbClr val="1E1233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23697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r/pcgaming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011680" y="3236976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квартал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926080" y="3236976"/>
            <a:ext cx="1554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крупные новости. Часто = shadowban.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2920" y="352044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r/Games · IndieSunday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011680" y="3520440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30 дней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926080" y="3520440"/>
            <a:ext cx="1554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Длинный пост + GIF + dev story. Только в воскресенье.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65760" y="3803904"/>
            <a:ext cx="4114800" cy="283464"/>
          </a:xfrm>
          <a:prstGeom prst="rect">
            <a:avLst/>
          </a:prstGeom>
          <a:solidFill>
            <a:srgbClr val="1E1233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803904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r/playmygame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011680" y="3803904"/>
            <a:ext cx="777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демо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926080" y="3803904"/>
            <a:ext cx="1554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Честный запрос фидбэка.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65760" y="4178808"/>
            <a:ext cx="4114800" cy="548640"/>
          </a:xfrm>
          <a:prstGeom prst="rect">
            <a:avLst/>
          </a:prstGeom>
          <a:solidFill>
            <a:srgbClr val="271948"/>
          </a:solidFill>
          <a:ln w="9525">
            <a:solidFill>
              <a:srgbClr val="F472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" y="4224528"/>
            <a:ext cx="3895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ЧЕГО НЕ ДЕЛАТЬ НА REDDIT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5488" y="4379976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«Наша игра вышла сегодня!», ссылка на Steam в первом параграфе, длинный текст без визуала. Это shadowban, и аккаунт на месяцы становится бесполезным.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663440" y="1417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· X (Twitter)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663440" y="16184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постов / нед на игру + 1 общий студийный. Базовые хештеги: #indiegame #gamedev #indiedev #indiegames.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63440" y="1874520"/>
            <a:ext cx="4114800" cy="228600"/>
          </a:xfrm>
          <a:prstGeom prst="rect">
            <a:avLst/>
          </a:prstGeom>
          <a:solidFill>
            <a:srgbClr val="271948"/>
          </a:solidFill>
          <a:ln/>
        </p:spPr>
      </p:sp>
      <p:sp>
        <p:nvSpPr>
          <p:cNvPr id="43" name="Shape 41"/>
          <p:cNvSpPr/>
          <p:nvPr/>
        </p:nvSpPr>
        <p:spPr>
          <a:xfrm>
            <a:off x="4663440" y="1874520"/>
            <a:ext cx="45720" cy="2286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4" name="Text 42"/>
          <p:cNvSpPr/>
          <p:nvPr/>
        </p:nvSpPr>
        <p:spPr>
          <a:xfrm>
            <a:off x="4800600" y="1874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349240" y="1874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ХЕШТЕГ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132320" y="1874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НАЗНАЧЕНИЕ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663440" y="2103120"/>
            <a:ext cx="4114800" cy="283464"/>
          </a:xfrm>
          <a:prstGeom prst="rect">
            <a:avLst/>
          </a:prstGeom>
          <a:solidFill>
            <a:srgbClr val="1E1233"/>
          </a:solidFill>
          <a:ln/>
        </p:spPr>
      </p:sp>
      <p:sp>
        <p:nvSpPr>
          <p:cNvPr id="48" name="Text 46"/>
          <p:cNvSpPr/>
          <p:nvPr/>
        </p:nvSpPr>
        <p:spPr>
          <a:xfrm>
            <a:off x="4800600" y="2103120"/>
            <a:ext cx="411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Пн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349240" y="2103120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#MotivationalMonday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132320" y="2103120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/ атмосфера дева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800600" y="2386584"/>
            <a:ext cx="411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349240" y="2386584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#TrailerTuesday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132320" y="2386584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Релиз или re-share трейлера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663440" y="2670048"/>
            <a:ext cx="4114800" cy="283464"/>
          </a:xfrm>
          <a:prstGeom prst="rect">
            <a:avLst/>
          </a:prstGeom>
          <a:solidFill>
            <a:srgbClr val="1E1233"/>
          </a:solidFill>
          <a:ln/>
        </p:spPr>
      </p:sp>
      <p:sp>
        <p:nvSpPr>
          <p:cNvPr id="55" name="Text 53"/>
          <p:cNvSpPr/>
          <p:nvPr/>
        </p:nvSpPr>
        <p:spPr>
          <a:xfrm>
            <a:off x="4800600" y="2670048"/>
            <a:ext cx="411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349240" y="2670048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#WishlistWednesday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132320" y="2670048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СИЛЬНЕЙШИЙ день для CTA «wishlist now»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800600" y="2953512"/>
            <a:ext cx="411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349240" y="2953512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#ShowcaseThursday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132320" y="2953512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Подсветка фичей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663440" y="3236976"/>
            <a:ext cx="4114800" cy="283464"/>
          </a:xfrm>
          <a:prstGeom prst="rect">
            <a:avLst/>
          </a:prstGeom>
          <a:solidFill>
            <a:srgbClr val="1E1233"/>
          </a:solidFill>
          <a:ln/>
        </p:spPr>
      </p:sp>
      <p:sp>
        <p:nvSpPr>
          <p:cNvPr id="62" name="Text 60"/>
          <p:cNvSpPr/>
          <p:nvPr/>
        </p:nvSpPr>
        <p:spPr>
          <a:xfrm>
            <a:off x="4800600" y="3236976"/>
            <a:ext cx="411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Пт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349240" y="3236976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#FollowFriday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7132320" y="3236976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Кросс-промо с другими девами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4800600" y="3520440"/>
            <a:ext cx="411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5349240" y="3520440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#ScreenshotSaturday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7132320" y="3520440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Красивые скриншоты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663440" y="3803904"/>
            <a:ext cx="4114800" cy="283464"/>
          </a:xfrm>
          <a:prstGeom prst="rect">
            <a:avLst/>
          </a:prstGeom>
          <a:solidFill>
            <a:srgbClr val="1E1233"/>
          </a:solidFill>
          <a:ln/>
        </p:spPr>
      </p:sp>
      <p:sp>
        <p:nvSpPr>
          <p:cNvPr id="69" name="Text 67"/>
          <p:cNvSpPr/>
          <p:nvPr/>
        </p:nvSpPr>
        <p:spPr>
          <a:xfrm>
            <a:off x="4800600" y="3803904"/>
            <a:ext cx="411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5349240" y="3803904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#ShowMeSunday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7132320" y="3803904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 механик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8229600" y="48508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КАНАЛЫ ПРОДВИЖЕНИЯ (ПРОДОЛЖЕНИЕ)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и Discord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352044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54864" cy="352044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25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· TikTok — лотерея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Реальность TikTok: 90% роликов получают 500–5 000 просмотров, 10% могут внезапно получить 100k–1M. Это нормально и так у всех. Если попадает — окупает всё. Если нет — не окупает ничего.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0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Минимум 4 ролика в неделю — иначе алгоритм не показывает.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0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15–30 секунд, хук в первые 7 секунд, трендовый звук.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0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 на ведение: ~$300/мес. Не ради мгновенного ROI, а ради лотерейного билета.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114800" cy="352044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88720"/>
            <a:ext cx="54864" cy="3520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325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· Discord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6459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для привлечения новых, а для удержания и активации существующих. Сюда возвращаются те, кто уже играет.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23774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Каналы: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26060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#welcome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55080" y="26060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приветствие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37760" y="28254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#general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55080" y="28254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общий чат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37760" y="30449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#bugs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355080" y="30449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баг-репорты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37760" y="32644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#feedback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55080" y="32644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идеи и предложения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37760" y="34838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#announcements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55080" y="34838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админ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37760" y="37033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#clips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55080" y="37033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скриншоты, ролики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6320" y="43434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игр с лидербордом — отдельный канал лидерборда обязателен.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48508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КАНАЛЫ ПРОДВИЖЕНИЯ (ПРОДОЛЖЕНИЕ)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Инфлюенсеры, PR, пресса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 область разделяется на несколько слоёв, и для разных игр работают разные.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8412480" cy="292608"/>
          </a:xfrm>
          <a:prstGeom prst="rect">
            <a:avLst/>
          </a:prstGeom>
          <a:solidFill>
            <a:srgbClr val="27194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508760"/>
            <a:ext cx="45720" cy="29260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08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СЛОЙ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286000" y="15087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60520" y="1508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5087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ИСПОЛЬЗОВАТЬ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801368"/>
            <a:ext cx="8412480" cy="356616"/>
          </a:xfrm>
          <a:prstGeom prst="rect">
            <a:avLst/>
          </a:prstGeom>
          <a:solidFill>
            <a:srgbClr val="1E1233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801368"/>
            <a:ext cx="1645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Массовая рассылка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286000" y="1801368"/>
            <a:ext cx="1737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superindiegames.com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60520" y="1801368"/>
            <a:ext cx="1280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~€550 за кампанию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577840" y="1801368"/>
            <a:ext cx="32004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Анонс страницы и запуск демо.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2157984"/>
            <a:ext cx="1645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blast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286000" y="2157984"/>
            <a:ext cx="1737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Keymailer (годовая подписка)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60520" y="2157984"/>
            <a:ext cx="1280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+ $250 Press Bomb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577840" y="2157984"/>
            <a:ext cx="32004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Релизное окно.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514600"/>
            <a:ext cx="8412480" cy="356616"/>
          </a:xfrm>
          <a:prstGeom prst="rect">
            <a:avLst/>
          </a:prstGeom>
          <a:solidFill>
            <a:srgbClr val="1E1233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514600"/>
            <a:ext cx="1645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PR-агентство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86000" y="2514600"/>
            <a:ext cx="1737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PR и подобные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60520" y="2514600"/>
            <a:ext cx="1280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$5 000 – $10 000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577840" y="2514600"/>
            <a:ext cx="32004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Активный premium-indie релиз.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2871216"/>
            <a:ext cx="1645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Регион JP/SEA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286000" y="2871216"/>
            <a:ext cx="1737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Noroshi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160520" y="2871216"/>
            <a:ext cx="1280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 – $600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577840" y="2871216"/>
            <a:ext cx="32004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Покрытие Азии.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227832"/>
            <a:ext cx="8412480" cy="356616"/>
          </a:xfrm>
          <a:prstGeom prst="rect">
            <a:avLst/>
          </a:prstGeom>
          <a:solidFill>
            <a:srgbClr val="1E1233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3227832"/>
            <a:ext cx="1645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Кураторы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286000" y="3227832"/>
            <a:ext cx="1737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Salz, devotioninteractive.com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160520" y="3227832"/>
            <a:ext cx="1280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(стоимость ключей)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577840" y="3227832"/>
            <a:ext cx="32004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фазах E3 + E5.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2920" y="3584448"/>
            <a:ext cx="1645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Прямые топ-стримеры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286000" y="3584448"/>
            <a:ext cx="1737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/ Twitch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160520" y="3584448"/>
            <a:ext cx="1280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577840" y="3584448"/>
            <a:ext cx="32004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Точечно. Для casual — обычно не окупается.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5760" y="3941064"/>
            <a:ext cx="8412480" cy="356616"/>
          </a:xfrm>
          <a:prstGeom prst="rect">
            <a:avLst/>
          </a:prstGeom>
          <a:solidFill>
            <a:srgbClr val="1E1233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" y="3941064"/>
            <a:ext cx="1645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Пресса tier 1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286000" y="3941064"/>
            <a:ext cx="1737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IGN, PC Gamer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160520" y="3941064"/>
            <a:ext cx="1280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$$$$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577840" y="3941064"/>
            <a:ext cx="32004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через PR-агентство.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02920" y="4297680"/>
            <a:ext cx="1645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Пресса tier 2–3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286000" y="4297680"/>
            <a:ext cx="1737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Нишевые издания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160520" y="4297680"/>
            <a:ext cx="1280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577840" y="4297680"/>
            <a:ext cx="32004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эффективный сегмент.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229600" y="48508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ФЕСТИВАЛИ И РАСПРОДАЖИ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Фестивали и распродажи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Главные точки роста вишлистов и продаж. У Steam есть пять типов событий, и важно понимать разницу.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292608"/>
          </a:xfrm>
          <a:prstGeom prst="rect">
            <a:avLst/>
          </a:prstGeom>
          <a:solidFill>
            <a:srgbClr val="27194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17320"/>
            <a:ext cx="45720" cy="2926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17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468880" y="1417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ЧАСТОТА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166360" y="141732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ДАЁТ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1709928"/>
            <a:ext cx="8412480" cy="457200"/>
          </a:xfrm>
          <a:prstGeom prst="rect">
            <a:avLst/>
          </a:prstGeom>
          <a:solidFill>
            <a:srgbClr val="1E1233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1709928"/>
            <a:ext cx="45720" cy="4572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7099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Next Fest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468880" y="17099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раза в год (Feb / Jun / Oct)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166360" y="170992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фестиваль демо. Стабильно 2 000–10 000 вишлистов за участие.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167128"/>
            <a:ext cx="45720" cy="45720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1671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Тематические Steam-фесты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468880" y="21671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Постоянно (Cozy, Co-Op, Strategy, Bullet Heaven, Family Friendly, Ramadan…)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166360" y="216712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500–2 500 вишлистов за фест. Бесплатное участие, нужны подходящие теги.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624328"/>
            <a:ext cx="8412480" cy="457200"/>
          </a:xfrm>
          <a:prstGeom prst="rect">
            <a:avLst/>
          </a:prstGeom>
          <a:solidFill>
            <a:srgbClr val="1E1233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" y="2624328"/>
            <a:ext cx="45720" cy="4572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6243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Глобальные распродажи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468880" y="26243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раза в год (Summer / Autumn / Winter / Spring)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166360" y="262432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Массовая 40–60% скидка. Ключевая фаза для back-catalog.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081528"/>
            <a:ext cx="45720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0815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Sale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468880" y="30815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раз в 3–6 месяцев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166360" y="308152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Издатель получает свой собственный фестиваль с Featured-баннером бесплатно.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3538728"/>
            <a:ext cx="8412480" cy="457200"/>
          </a:xfrm>
          <a:prstGeom prst="rect">
            <a:avLst/>
          </a:prstGeom>
          <a:solidFill>
            <a:srgbClr val="1E1233"/>
          </a:solidFill>
          <a:ln/>
        </p:spPr>
      </p:sp>
      <p:sp>
        <p:nvSpPr>
          <p:cNvPr id="29" name="Shape 27"/>
          <p:cNvSpPr/>
          <p:nvPr/>
        </p:nvSpPr>
        <p:spPr>
          <a:xfrm>
            <a:off x="365760" y="3538728"/>
            <a:ext cx="45720" cy="4572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35387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Showcases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468880" y="35387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2–6 в год по приглашению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166360" y="353872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Games Show, Wholesome Direct, Triple-I, Six One Indie. От $0 до $25k.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4133088"/>
            <a:ext cx="8412480" cy="640080"/>
          </a:xfrm>
          <a:prstGeom prst="rect">
            <a:avLst/>
          </a:prstGeom>
          <a:solidFill>
            <a:srgbClr val="271948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17880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ROTATION — тонкость, о которой важно знать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8640" y="4361688"/>
            <a:ext cx="8046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Большинство тематических фестов требуют, чтобы у игры были подходящие теги. Иногда мы ротируем верх тегов под фест, потом возвращаем обратно. Меняем ≤3–5 тегов за раз (больше — Steam подозревает накрутку), возвращаем в течение 3 дней после феста.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29600" y="48508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БЮДЖЕТЫ И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Бюджеты и ROI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Маркетинг Steam-релиза стоит денег. Сколько именно — зависит от типа игры, амбиций и наличия PR-агентства. Ниже три типовых уровня годового бюджета на одну активную игру.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481328"/>
            <a:ext cx="5166360" cy="292608"/>
          </a:xfrm>
          <a:prstGeom prst="rect">
            <a:avLst/>
          </a:prstGeom>
          <a:solidFill>
            <a:srgbClr val="27194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813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СТАТЬЯ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651760" y="148132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11880" y="148132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0" y="148132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1773936"/>
            <a:ext cx="5166360" cy="201168"/>
          </a:xfrm>
          <a:prstGeom prst="rect">
            <a:avLst/>
          </a:prstGeom>
          <a:solidFill>
            <a:srgbClr val="1E123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7739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page fee (разовая)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651760" y="177393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11880" y="177393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0" y="177393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197510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Производство трейлера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651760" y="197510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 in-house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11880" y="197510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$2 000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0" y="197510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$4 000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2176272"/>
            <a:ext cx="5166360" cy="201168"/>
          </a:xfrm>
          <a:prstGeom prst="rect">
            <a:avLst/>
          </a:prstGeom>
          <a:solidFill>
            <a:srgbClr val="1E1233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1762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mailing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651760" y="217627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611880" y="217627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$1 500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0" y="217627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$5 000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7200" y="23774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реклама (за весь цикл)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651760" y="237744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$1 000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611880" y="237744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$3 000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00" y="237744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$8 000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2578608"/>
            <a:ext cx="5166360" cy="201168"/>
          </a:xfrm>
          <a:prstGeom prst="rect">
            <a:avLst/>
          </a:prstGeom>
          <a:solidFill>
            <a:srgbClr val="1E1233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2578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/ Twitter реклама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651760" y="257860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611880" y="257860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$1 500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72000" y="257860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$3 000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7200" y="27797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Keymailer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651760" y="277977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611880" y="277977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572000" y="277977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2980944"/>
            <a:ext cx="5166360" cy="201168"/>
          </a:xfrm>
          <a:prstGeom prst="rect">
            <a:avLst/>
          </a:prstGeom>
          <a:solidFill>
            <a:srgbClr val="1E1233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298094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TikTok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651760" y="298094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$3 600 / год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611880" y="298094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$3 600 / год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0" y="298094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$6 000 / год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57200" y="31821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PR-агентство (Stride)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651760" y="318211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611880" y="318211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572000" y="318211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$5–10k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65760" y="3383280"/>
            <a:ext cx="5166360" cy="201168"/>
          </a:xfrm>
          <a:prstGeom prst="rect">
            <a:avLst/>
          </a:prstGeom>
          <a:solidFill>
            <a:srgbClr val="1E1233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33832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Регион JP/SEA outreach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651760" y="33832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611880" y="33832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$1 000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572000" y="33832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$2 000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57200" y="35844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Внешние фестивали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2651760" y="3584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611880" y="3584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572000" y="3584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$2 000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65760" y="3785616"/>
            <a:ext cx="5166360" cy="292608"/>
          </a:xfrm>
          <a:prstGeom prst="rect">
            <a:avLst/>
          </a:prstGeom>
          <a:solidFill>
            <a:srgbClr val="271948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37856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 ОРИЕНТИР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2651760" y="378561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~$4 000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3611880" y="378561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~$12 000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572000" y="378561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~$30 000+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715000" y="14813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метрика — Cost per Wishlist (CPW)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715000" y="1810512"/>
            <a:ext cx="3063240" cy="457200"/>
          </a:xfrm>
          <a:prstGeom prst="rect">
            <a:avLst/>
          </a:prstGeom>
          <a:solidFill>
            <a:srgbClr val="271948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806440" y="181051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CPW  =  потраченные деньги  /  полученные вишлисты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715000" y="239572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Целевые ориентиры по типу игры: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715000" y="264261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5879592" y="264261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/ hyper-casual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662672" y="264261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$1.5 / вишлист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715000" y="288950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5879592" y="288950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Mid-casual indie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662672" y="288950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$2–$4 / вишлист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5715000" y="313639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5879592" y="313639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single-player indie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7662672" y="313639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$5 / вишлист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5715000" y="34747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CPW два квартала подряд выше цели — это сигнал что-то менять: либо креатив (GIF, трейлер не продают), либо канал (этот канал не подходит этой игре), либо игра уже отыграла свою первичную аудиторию (нужна новая активность — DLC, фест).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5715000" y="4160520"/>
            <a:ext cx="3063240" cy="502920"/>
          </a:xfrm>
          <a:prstGeom prst="rect">
            <a:avLst/>
          </a:prstGeom>
          <a:solidFill>
            <a:srgbClr val="1E1233"/>
          </a:solidFill>
          <a:ln w="6350">
            <a:solidFill>
              <a:srgbClr val="6B5B8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824728" y="4197096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B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РЕАЛЬНЫЙ РЕФЕРЕНС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5824728" y="4343400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Хорошо оптимизированная игра в близком жанре — около $9–10 за вишлист в среднем по году. Плохо настроенная — $60–100. Разница в 10× зависит почти исключительно от того, как сделан core-GIF и трейлер.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8229600" y="48508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РАЗДЕЛЕНИЕ РАБОТЫ: РАЗРАБОТЧИК И ИЗДАТЕЛЬ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Разделение работы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разработчика и издателя разные зоны. Эта таблица — типичная для индустрии. На конкретном проекте может быть сдвинута в любую сторону, обсуждается отдельно.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256032"/>
          </a:xfrm>
          <a:prstGeom prst="rect">
            <a:avLst/>
          </a:prstGeom>
          <a:solidFill>
            <a:srgbClr val="27194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17320"/>
            <a:ext cx="45720" cy="2560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1732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ДЕЛАЕТСЯ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60520" y="14173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РАЗРАБОТЧИК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446520" y="14173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ИЗДАТЕЛЬ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1673352"/>
            <a:ext cx="8412480" cy="164592"/>
          </a:xfrm>
          <a:prstGeom prst="rect">
            <a:avLst/>
          </a:prstGeom>
          <a:solidFill>
            <a:srgbClr val="1E1233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6733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Игра, билды, патчи, фиксы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60520" y="167335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полностью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46520" y="16733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183794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Демо-билд для Next Fest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60520" y="183794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полностью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46520" y="183794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координация сроков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002536"/>
            <a:ext cx="8412480" cy="164592"/>
          </a:xfrm>
          <a:prstGeom prst="rect">
            <a:avLst/>
          </a:prstGeom>
          <a:solidFill>
            <a:srgbClr val="1E1233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0025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Графические ассеты страницы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60520" y="200253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обычно делает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46520" y="200253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может заказывать у внешних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216712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Трейлеры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60520" y="216712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часто in-house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46520" y="216712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часто заказывает (Vassamo / RULER)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331720"/>
            <a:ext cx="8412480" cy="164592"/>
          </a:xfrm>
          <a:prstGeom prst="rect">
            <a:avLst/>
          </a:prstGeom>
          <a:solidFill>
            <a:srgbClr val="1E1233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33172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Тексты страницы (About / Short)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60520" y="233172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черновик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46520" y="23317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финализация и оптимизация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" y="249631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Подбор тегов и порядка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60520" y="249631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46520" y="249631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полностью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2660904"/>
            <a:ext cx="8412480" cy="164592"/>
          </a:xfrm>
          <a:prstGeom prst="rect">
            <a:avLst/>
          </a:prstGeom>
          <a:solidFill>
            <a:srgbClr val="1E1233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266090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Локализация страницы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160520" y="266090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46520" y="26609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полностью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2920" y="282549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Локализация игры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160520" y="282549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или совместно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46520" y="282549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координирует, иногда заказывает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2990088"/>
            <a:ext cx="8412480" cy="164592"/>
          </a:xfrm>
          <a:prstGeom prst="rect">
            <a:avLst/>
          </a:prstGeom>
          <a:solidFill>
            <a:srgbClr val="1E1233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" y="299008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Ценообразование (региональное)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60520" y="299008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консультация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46520" y="299008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полностью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2920" y="31546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Подача на фестивали и Steamworks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60520" y="315468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46520" y="315468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полностью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5760" y="3319272"/>
            <a:ext cx="8412480" cy="164592"/>
          </a:xfrm>
          <a:prstGeom prst="rect">
            <a:avLst/>
          </a:prstGeom>
          <a:solidFill>
            <a:srgbClr val="1E1233"/>
          </a:solidFill>
          <a:ln/>
        </p:spPr>
      </p:sp>
      <p:sp>
        <p:nvSpPr>
          <p:cNvPr id="46" name="Text 44"/>
          <p:cNvSpPr/>
          <p:nvPr/>
        </p:nvSpPr>
        <p:spPr>
          <a:xfrm>
            <a:off x="502920" y="331927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Соцсети (Reddit, X, TikTok, Discord)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160520" y="331927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может вести community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446520" y="33192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маркетинг и реклама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2920" y="348386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/ пресс-рассылки / агентства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160520" y="348386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446520" y="348386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полностью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65760" y="3648456"/>
            <a:ext cx="8412480" cy="164592"/>
          </a:xfrm>
          <a:prstGeom prst="rect">
            <a:avLst/>
          </a:prstGeom>
          <a:solidFill>
            <a:srgbClr val="1E1233"/>
          </a:solidFill>
          <a:ln/>
        </p:spPr>
      </p:sp>
      <p:sp>
        <p:nvSpPr>
          <p:cNvPr id="53" name="Text 51"/>
          <p:cNvSpPr/>
          <p:nvPr/>
        </p:nvSpPr>
        <p:spPr>
          <a:xfrm>
            <a:off x="502920" y="364845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Реклама (Reddit / X ads)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160520" y="364845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446520" y="364845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полностью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02920" y="381304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Ответы на отзывы Steam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160520" y="381304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желательно совместно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446520" y="381304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координирует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65760" y="3977640"/>
            <a:ext cx="8412480" cy="164592"/>
          </a:xfrm>
          <a:prstGeom prst="rect">
            <a:avLst/>
          </a:prstGeom>
          <a:solidFill>
            <a:srgbClr val="1E1233"/>
          </a:solidFill>
          <a:ln/>
        </p:spPr>
      </p:sp>
      <p:sp>
        <p:nvSpPr>
          <p:cNvPr id="60" name="Text 58"/>
          <p:cNvSpPr/>
          <p:nvPr/>
        </p:nvSpPr>
        <p:spPr>
          <a:xfrm>
            <a:off x="502920" y="397764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Стримы на Steam-странице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160520" y="39776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голос разраба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446520" y="39776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координация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02920" y="414223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Контент-апдейты / DLC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160520" y="414223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полностью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446520" y="414223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координация выпуска и маркетинг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65760" y="4306824"/>
            <a:ext cx="8412480" cy="164592"/>
          </a:xfrm>
          <a:prstGeom prst="rect">
            <a:avLst/>
          </a:prstGeom>
          <a:solidFill>
            <a:srgbClr val="1E1233"/>
          </a:solidFill>
          <a:ln/>
        </p:spPr>
      </p:sp>
      <p:sp>
        <p:nvSpPr>
          <p:cNvPr id="67" name="Text 65"/>
          <p:cNvSpPr/>
          <p:nvPr/>
        </p:nvSpPr>
        <p:spPr>
          <a:xfrm>
            <a:off x="502920" y="430682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и недельная отчётность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4160520" y="430682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получает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446520" y="430682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ведёт и отчитывается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365760" y="4562856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частый источник трений: кто и когда правит тексты страницы. Издатель оптимизирует под алгоритм Steam, разработчик — под «как мы видим свою игру». Обычно правильный путь: разработчик пишет первый драфт, издатель оптимизирует, обсуждаем спорные места.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8229600" y="48508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Главные числа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случай если нужно быстро сослаться на конкретные цифры в разговоре.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292608"/>
          </a:xfrm>
          <a:prstGeom prst="rect">
            <a:avLst/>
          </a:prstGeom>
          <a:solidFill>
            <a:srgbClr val="27194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17320"/>
            <a:ext cx="45720" cy="29260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173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834640" y="14173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ЗНАЧЕНИЕ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74920" y="141732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ЗНАЧИТ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1709928"/>
            <a:ext cx="8412480" cy="292608"/>
          </a:xfrm>
          <a:prstGeom prst="rect">
            <a:avLst/>
          </a:prstGeom>
          <a:solidFill>
            <a:srgbClr val="1E1233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1709928"/>
            <a:ext cx="45720" cy="29260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7099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→ Sale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834640" y="17099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10–25% в первые 48ч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74920" y="170992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5 000 вишлистов на момент релиза превратятся в продажу 500–1 250.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002536"/>
            <a:ext cx="45720" cy="292608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00253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→ Wishlist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834640" y="200253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8–15%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74920" y="200253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ниже 6% — главный GIF и хук трейлера не работают, нужно менять.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295144"/>
            <a:ext cx="8412480" cy="292608"/>
          </a:xfrm>
          <a:prstGeom prst="rect">
            <a:avLst/>
          </a:prstGeom>
          <a:solidFill>
            <a:srgbClr val="1E1233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" y="2295144"/>
            <a:ext cx="45720" cy="2926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29514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 → Visit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834640" y="229514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4–8%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74920" y="2295144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ниже 4% — капсула не цепляет, нужен A/B.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2587752"/>
            <a:ext cx="45720" cy="29260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5877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Upcoming · порог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834640" y="25877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~5 000+ wishlists за 7 дней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74920" y="258775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E5. Без неё бустинга от алгоритма не будет.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2880360"/>
            <a:ext cx="8412480" cy="292608"/>
          </a:xfrm>
          <a:prstGeom prst="rect">
            <a:avLst/>
          </a:prstGeom>
          <a:solidFill>
            <a:srgbClr val="1E1233"/>
          </a:solidFill>
          <a:ln/>
        </p:spPr>
      </p:sp>
      <p:sp>
        <p:nvSpPr>
          <p:cNvPr id="29" name="Shape 27"/>
          <p:cNvSpPr/>
          <p:nvPr/>
        </p:nvSpPr>
        <p:spPr>
          <a:xfrm>
            <a:off x="365760" y="2880360"/>
            <a:ext cx="45720" cy="29260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28803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Next Fest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834640" y="28803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2 000–10 000 wishlists / неделя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074920" y="288036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единичный источник вишлистов.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3172968"/>
            <a:ext cx="45720" cy="292608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1729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discount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834640" y="31729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10–15% × 14 дней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074920" y="317296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Стандарт. Никогда не больше 20% — теряется Popular Upcoming.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3465576"/>
            <a:ext cx="8412480" cy="292608"/>
          </a:xfrm>
          <a:prstGeom prst="rect">
            <a:avLst/>
          </a:prstGeom>
          <a:solidFill>
            <a:srgbClr val="1E1233"/>
          </a:solidFill>
          <a:ln/>
        </p:spPr>
      </p:sp>
      <p:sp>
        <p:nvSpPr>
          <p:cNvPr id="38" name="Shape 36"/>
          <p:cNvSpPr/>
          <p:nvPr/>
        </p:nvSpPr>
        <p:spPr>
          <a:xfrm>
            <a:off x="365760" y="3465576"/>
            <a:ext cx="45720" cy="2926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" y="346557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Cooldown между скидками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834640" y="346557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дней минимум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074920" y="346557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Steam-правило, не обходится.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65760" y="3758184"/>
            <a:ext cx="45720" cy="29260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" y="375818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 steam-комиссии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834640" y="375818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074920" y="3758184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Стандартно. Снижается до 25% при $10M+ выручки и 20% при $50M+.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65760" y="45491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по какому-то разделу нужно глубже — есть детальная методичка в формате Google Sheets с расписанной операционной частью (~80 действий со сроками и ответственными), полным реестром фестивалей и калькулятором CPW. Запрашивайте у издателя при необходимости.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229600" y="48508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2026-05-07T15:24:27Z</dcterms:created>
  <dcterms:modified xsi:type="dcterms:W3CDTF">2026-05-07T15:24:27Z</dcterms:modified>
</cp:coreProperties>
</file>